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1pPr>
    <a:lvl2pPr marL="0" marR="0" indent="4572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2pPr>
    <a:lvl3pPr marL="0" marR="0" indent="9144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3pPr>
    <a:lvl4pPr marL="0" marR="0" indent="13716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4pPr>
    <a:lvl5pPr marL="0" marR="0" indent="18288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5pPr>
    <a:lvl6pPr marL="0" marR="0" indent="22860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6pPr>
    <a:lvl7pPr marL="0" marR="0" indent="27432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7pPr>
    <a:lvl8pPr marL="0" marR="0" indent="32004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8pPr>
    <a:lvl9pPr marL="0" marR="0" indent="365760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Avenir Next Regular"/>
          <a:ea typeface="Avenir Next Regular"/>
          <a:cs typeface="Avenir Next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Avenir Next Regular"/>
          <a:ea typeface="Avenir Next Regular"/>
          <a:cs typeface="Avenir Next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Avenir Next Regular"/>
          <a:ea typeface="Avenir Next Regular"/>
          <a:cs typeface="Avenir Next Regular"/>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
          <a:latin typeface="Avenir Next Demi Bold"/>
          <a:ea typeface="Avenir Next Demi Bold"/>
          <a:cs typeface="Avenir Next Demi 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Avenir Next Regular"/>
          <a:ea typeface="Avenir Next Regular"/>
          <a:cs typeface="Avenir Next Regular"/>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 Next Demi Bold"/>
          <a:ea typeface="Avenir Next Demi Bold"/>
          <a:cs typeface="Avenir Next Demi 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Avenir Next Regular"/>
          <a:ea typeface="Avenir Next Regular"/>
          <a:cs typeface="Avenir Next Regular"/>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
          <a:latin typeface="Avenir Next Demi Bold"/>
          <a:ea typeface="Avenir Next Demi Bold"/>
          <a:cs typeface="Avenir Next Demi 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 Next Demi Bold"/>
          <a:ea typeface="Avenir Next Demi Bold"/>
          <a:cs typeface="Avenir Next Demi 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 Next Demi Bold"/>
          <a:ea typeface="Avenir Next Demi Bold"/>
          <a:cs typeface="Avenir Next Demi 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
          <a:latin typeface="Avenir Next Demi Bold"/>
          <a:ea typeface="Avenir Next Demi Bold"/>
          <a:cs typeface="Avenir Next Demi 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 Next Demi Bold"/>
          <a:ea typeface="Avenir Next Demi Bold"/>
          <a:cs typeface="Avenir Next Demi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7" name="Shape 157"/>
          <p:cNvSpPr/>
          <p:nvPr>
            <p:ph type="sldImg"/>
          </p:nvPr>
        </p:nvSpPr>
        <p:spPr>
          <a:xfrm>
            <a:off x="1143000" y="685800"/>
            <a:ext cx="4572000" cy="3429000"/>
          </a:xfrm>
          <a:prstGeom prst="rect">
            <a:avLst/>
          </a:prstGeom>
        </p:spPr>
        <p:txBody>
          <a:bodyPr/>
          <a:lstStyle/>
          <a:p>
            <a:pPr/>
          </a:p>
        </p:txBody>
      </p:sp>
      <p:sp>
        <p:nvSpPr>
          <p:cNvPr id="158" name="Shape 15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Заголовок">
    <p:spTree>
      <p:nvGrpSpPr>
        <p:cNvPr id="1" name=""/>
        <p:cNvGrpSpPr/>
        <p:nvPr/>
      </p:nvGrpSpPr>
      <p:grpSpPr>
        <a:xfrm>
          <a:off x="0" y="0"/>
          <a:ext cx="0" cy="0"/>
          <a:chOff x="0" y="0"/>
          <a:chExt cx="0" cy="0"/>
        </a:xfrm>
      </p:grpSpPr>
      <p:sp>
        <p:nvSpPr>
          <p:cNvPr id="11" name="Автор и дата"/>
          <p:cNvSpPr txBox="1"/>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pc="-29" sz="2940">
                <a:latin typeface="Avenir Next Medium"/>
                <a:ea typeface="Avenir Next Medium"/>
                <a:cs typeface="Avenir Next Medium"/>
                <a:sym typeface="Avenir Next Medium"/>
              </a:defRPr>
            </a:lvl1pPr>
          </a:lstStyle>
          <a:p>
            <a:pPr/>
            <a:r>
              <a:t>Автор и дата</a:t>
            </a:r>
          </a:p>
        </p:txBody>
      </p:sp>
      <p:sp>
        <p:nvSpPr>
          <p:cNvPr id="12" name="Заголовок презентации"/>
          <p:cNvSpPr txBox="1"/>
          <p:nvPr>
            <p:ph type="title" hasCustomPrompt="1"/>
          </p:nvPr>
        </p:nvSpPr>
        <p:spPr>
          <a:xfrm>
            <a:off x="1219200" y="3543300"/>
            <a:ext cx="21945600" cy="4267200"/>
          </a:xfrm>
          <a:prstGeom prst="rect">
            <a:avLst/>
          </a:prstGeom>
        </p:spPr>
        <p:txBody>
          <a:bodyPr anchor="b"/>
          <a:lstStyle>
            <a:lvl1pPr>
              <a:defRPr spc="-128" sz="12800"/>
            </a:lvl1pPr>
          </a:lstStyle>
          <a:p>
            <a:pPr/>
            <a:r>
              <a:t>Заголовок презентации</a:t>
            </a:r>
          </a:p>
        </p:txBody>
      </p:sp>
      <p:sp>
        <p:nvSpPr>
          <p:cNvPr id="13" name="Уровень текста 1…"/>
          <p:cNvSpPr txBox="1"/>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pc="-59" sz="6000">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59" sz="6000">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59" sz="6000">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59" sz="6000">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59" sz="6000">
                <a:latin typeface="Avenir Next Demi Bold"/>
                <a:ea typeface="Avenir Next Demi Bold"/>
                <a:cs typeface="Avenir Next Demi Bold"/>
                <a:sym typeface="Avenir Next Demi Bold"/>
              </a:defRPr>
            </a:lvl5pPr>
          </a:lstStyle>
          <a:p>
            <a:pPr/>
            <a:r>
              <a:t>Подзаголовок презентации</a:t>
            </a:r>
          </a:p>
          <a:p>
            <a:pPr lvl="1"/>
            <a:r>
              <a:t/>
            </a:r>
          </a:p>
          <a:p>
            <a:pPr lvl="2"/>
            <a:r>
              <a:t/>
            </a:r>
          </a:p>
          <a:p>
            <a:pPr lvl="3"/>
            <a:r>
              <a:t/>
            </a:r>
          </a:p>
          <a:p>
            <a:pPr lvl="4"/>
            <a:r>
              <a:t/>
            </a:r>
          </a:p>
        </p:txBody>
      </p:sp>
      <p:sp>
        <p:nvSpPr>
          <p:cNvPr id="14"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фото">
    <p:spTree>
      <p:nvGrpSpPr>
        <p:cNvPr id="1" name=""/>
        <p:cNvGrpSpPr/>
        <p:nvPr/>
      </p:nvGrpSpPr>
      <p:grpSpPr>
        <a:xfrm>
          <a:off x="0" y="0"/>
          <a:ext cx="0" cy="0"/>
          <a:chOff x="0" y="0"/>
          <a:chExt cx="0" cy="0"/>
        </a:xfrm>
      </p:grpSpPr>
      <p:sp>
        <p:nvSpPr>
          <p:cNvPr id="21" name="Пляж и море на закате"/>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Заголовок презентации"/>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Заголовок презентации</a:t>
            </a:r>
          </a:p>
        </p:txBody>
      </p:sp>
      <p:sp>
        <p:nvSpPr>
          <p:cNvPr id="23" name="Уровень текста 1…"/>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59" sz="6000">
                <a:solidFill>
                  <a:srgbClr val="FFFFFF"/>
                </a:solidFill>
                <a:latin typeface="Avenir Next Demi Bold"/>
                <a:ea typeface="Avenir Next Demi Bold"/>
                <a:cs typeface="Avenir Next Demi Bold"/>
                <a:sym typeface="Avenir Next Demi Bold"/>
              </a:defRPr>
            </a:lvl5pPr>
          </a:lstStyle>
          <a:p>
            <a:pPr/>
            <a:r>
              <a:t>Подзаголовок презентации</a:t>
            </a:r>
          </a:p>
          <a:p>
            <a:pPr lvl="1"/>
            <a:r>
              <a:t/>
            </a:r>
          </a:p>
          <a:p>
            <a:pPr lvl="2"/>
            <a:r>
              <a:t/>
            </a:r>
          </a:p>
          <a:p>
            <a:pPr lvl="3"/>
            <a:r>
              <a:t/>
            </a:r>
          </a:p>
          <a:p>
            <a:pPr lvl="4"/>
            <a:r>
              <a:t/>
            </a:r>
          </a:p>
        </p:txBody>
      </p:sp>
      <p:sp>
        <p:nvSpPr>
          <p:cNvPr id="24" name="Автор и дата"/>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29" sz="2940">
                <a:solidFill>
                  <a:srgbClr val="FFFFFF"/>
                </a:solidFill>
                <a:latin typeface="Avenir Next Medium"/>
                <a:ea typeface="Avenir Next Medium"/>
                <a:cs typeface="Avenir Next Medium"/>
                <a:sym typeface="Avenir Next Medium"/>
              </a:defRPr>
            </a:lvl1pPr>
          </a:lstStyle>
          <a:p>
            <a:pPr/>
            <a:r>
              <a:t>Автор и дата</a:t>
            </a:r>
          </a:p>
        </p:txBody>
      </p:sp>
      <p:sp>
        <p:nvSpPr>
          <p:cNvPr id="25" name="Номер слайда"/>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фото (вариант)">
    <p:spTree>
      <p:nvGrpSpPr>
        <p:cNvPr id="1" name=""/>
        <p:cNvGrpSpPr/>
        <p:nvPr/>
      </p:nvGrpSpPr>
      <p:grpSpPr>
        <a:xfrm>
          <a:off x="0" y="0"/>
          <a:ext cx="0" cy="0"/>
          <a:chOff x="0" y="0"/>
          <a:chExt cx="0" cy="0"/>
        </a:xfrm>
      </p:grpSpPr>
      <p:sp>
        <p:nvSpPr>
          <p:cNvPr id="32" name="Заголовок слайда"/>
          <p:cNvSpPr txBox="1"/>
          <p:nvPr>
            <p:ph type="title" hasCustomPrompt="1"/>
          </p:nvPr>
        </p:nvSpPr>
        <p:spPr>
          <a:xfrm>
            <a:off x="1215495" y="4585102"/>
            <a:ext cx="9757338" cy="2540001"/>
          </a:xfrm>
          <a:prstGeom prst="rect">
            <a:avLst/>
          </a:prstGeom>
        </p:spPr>
        <p:txBody>
          <a:bodyPr anchor="b"/>
          <a:lstStyle/>
          <a:p>
            <a:pPr/>
            <a:r>
              <a:t>Заголовок слайда</a:t>
            </a:r>
          </a:p>
        </p:txBody>
      </p:sp>
      <p:sp>
        <p:nvSpPr>
          <p:cNvPr id="33" name="Море и небо на закате"/>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Уровень текста 1…"/>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Подзаголовок слайда</a:t>
            </a:r>
          </a:p>
          <a:p>
            <a:pPr lvl="1"/>
            <a:r>
              <a:t/>
            </a:r>
          </a:p>
          <a:p>
            <a:pPr lvl="2"/>
            <a:r>
              <a:t/>
            </a:r>
          </a:p>
          <a:p>
            <a:pPr lvl="3"/>
            <a:r>
              <a:t/>
            </a:r>
          </a:p>
          <a:p>
            <a:pPr lvl="4"/>
            <a:r>
              <a:t/>
            </a:r>
          </a:p>
        </p:txBody>
      </p:sp>
      <p:sp>
        <p:nvSpPr>
          <p:cNvPr id="3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пункты">
    <p:spTree>
      <p:nvGrpSpPr>
        <p:cNvPr id="1" name=""/>
        <p:cNvGrpSpPr/>
        <p:nvPr/>
      </p:nvGrpSpPr>
      <p:grpSpPr>
        <a:xfrm>
          <a:off x="0" y="0"/>
          <a:ext cx="0" cy="0"/>
          <a:chOff x="0" y="0"/>
          <a:chExt cx="0" cy="0"/>
        </a:xfrm>
      </p:grpSpPr>
      <p:sp>
        <p:nvSpPr>
          <p:cNvPr id="42" name="Заголовок слайда"/>
          <p:cNvSpPr txBox="1"/>
          <p:nvPr>
            <p:ph type="title" hasCustomPrompt="1"/>
          </p:nvPr>
        </p:nvSpPr>
        <p:spPr>
          <a:prstGeom prst="rect">
            <a:avLst/>
          </a:prstGeom>
        </p:spPr>
        <p:txBody>
          <a:bodyPr/>
          <a:lstStyle/>
          <a:p>
            <a:pPr/>
            <a:r>
              <a:t>Заголовок слайда</a:t>
            </a:r>
          </a:p>
        </p:txBody>
      </p:sp>
      <p:sp>
        <p:nvSpPr>
          <p:cNvPr id="43" name="Уровень текста 1…"/>
          <p:cNvSpPr txBox="1"/>
          <p:nvPr>
            <p:ph type="body" idx="1" hasCustomPrompt="1"/>
          </p:nvPr>
        </p:nvSpPr>
        <p:spPr>
          <a:prstGeom prst="rect">
            <a:avLst/>
          </a:prstGeom>
        </p:spPr>
        <p:txBody>
          <a:bodyPr/>
          <a:lstStyle/>
          <a:p>
            <a:pPr/>
            <a:r>
              <a:t>Текст пункта на слайде</a:t>
            </a:r>
          </a:p>
          <a:p>
            <a:pPr lvl="1"/>
            <a:r>
              <a:t/>
            </a:r>
          </a:p>
          <a:p>
            <a:pPr lvl="2"/>
            <a:r>
              <a:t/>
            </a:r>
          </a:p>
          <a:p>
            <a:pPr lvl="3"/>
            <a:r>
              <a:t/>
            </a:r>
          </a:p>
          <a:p>
            <a:pPr lvl="4"/>
            <a:r>
              <a:t/>
            </a:r>
          </a:p>
        </p:txBody>
      </p:sp>
      <p:sp>
        <p:nvSpPr>
          <p:cNvPr id="44" name="Подзаголовок слайда"/>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Подзаголовок слайда</a:t>
            </a:r>
          </a:p>
        </p:txBody>
      </p:sp>
      <p:sp>
        <p:nvSpPr>
          <p:cNvPr id="4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ункты">
    <p:spTree>
      <p:nvGrpSpPr>
        <p:cNvPr id="1" name=""/>
        <p:cNvGrpSpPr/>
        <p:nvPr/>
      </p:nvGrpSpPr>
      <p:grpSpPr>
        <a:xfrm>
          <a:off x="0" y="0"/>
          <a:ext cx="0" cy="0"/>
          <a:chOff x="0" y="0"/>
          <a:chExt cx="0" cy="0"/>
        </a:xfrm>
      </p:grpSpPr>
      <p:sp>
        <p:nvSpPr>
          <p:cNvPr id="52" name="Уровень текста 1…"/>
          <p:cNvSpPr txBox="1"/>
          <p:nvPr>
            <p:ph type="body" idx="1" hasCustomPrompt="1"/>
          </p:nvPr>
        </p:nvSpPr>
        <p:spPr>
          <a:xfrm>
            <a:off x="1219200" y="4013200"/>
            <a:ext cx="21945600" cy="8487148"/>
          </a:xfrm>
          <a:prstGeom prst="rect">
            <a:avLst/>
          </a:prstGeom>
        </p:spPr>
        <p:txBody>
          <a:bodyPr numCol="2" spcCol="2558384"/>
          <a:lstStyle/>
          <a:p>
            <a:pPr/>
            <a:r>
              <a:t>Текст пункта на слайде</a:t>
            </a:r>
          </a:p>
          <a:p>
            <a:pPr lvl="1"/>
            <a:r>
              <a:t/>
            </a:r>
          </a:p>
          <a:p>
            <a:pPr lvl="2"/>
            <a:r>
              <a:t/>
            </a:r>
          </a:p>
          <a:p>
            <a:pPr lvl="3"/>
            <a:r>
              <a:t/>
            </a:r>
          </a:p>
          <a:p>
            <a:pPr lvl="4"/>
            <a:r>
              <a:t/>
            </a:r>
          </a:p>
        </p:txBody>
      </p:sp>
      <p:sp>
        <p:nvSpPr>
          <p:cNvPr id="53"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пункты и фото">
    <p:spTree>
      <p:nvGrpSpPr>
        <p:cNvPr id="1" name=""/>
        <p:cNvGrpSpPr/>
        <p:nvPr/>
      </p:nvGrpSpPr>
      <p:grpSpPr>
        <a:xfrm>
          <a:off x="0" y="0"/>
          <a:ext cx="0" cy="0"/>
          <a:chOff x="0" y="0"/>
          <a:chExt cx="0" cy="0"/>
        </a:xfrm>
      </p:grpSpPr>
      <p:sp>
        <p:nvSpPr>
          <p:cNvPr id="60" name="Заголовок слайда"/>
          <p:cNvSpPr txBox="1"/>
          <p:nvPr>
            <p:ph type="title" hasCustomPrompt="1"/>
          </p:nvPr>
        </p:nvSpPr>
        <p:spPr>
          <a:xfrm>
            <a:off x="1219200" y="774700"/>
            <a:ext cx="9753600" cy="1600200"/>
          </a:xfrm>
          <a:prstGeom prst="rect">
            <a:avLst/>
          </a:prstGeom>
        </p:spPr>
        <p:txBody>
          <a:bodyPr/>
          <a:lstStyle/>
          <a:p>
            <a:pPr/>
            <a:r>
              <a:t>Заголовок слайда</a:t>
            </a:r>
          </a:p>
        </p:txBody>
      </p:sp>
      <p:sp>
        <p:nvSpPr>
          <p:cNvPr id="61" name="Море и небо на закате"/>
          <p:cNvSpPr/>
          <p:nvPr>
            <p:ph type="pic" idx="21"/>
          </p:nvPr>
        </p:nvSpPr>
        <p:spPr>
          <a:xfrm>
            <a:off x="12192644" y="718588"/>
            <a:ext cx="10972801" cy="12329624"/>
          </a:xfrm>
          <a:prstGeom prst="rect">
            <a:avLst/>
          </a:prstGeom>
        </p:spPr>
        <p:txBody>
          <a:bodyPr lIns="91439" tIns="45719" rIns="91439" bIns="45719">
            <a:noAutofit/>
          </a:bodyPr>
          <a:lstStyle/>
          <a:p>
            <a:pPr/>
          </a:p>
        </p:txBody>
      </p:sp>
      <p:sp>
        <p:nvSpPr>
          <p:cNvPr id="62" name="Подзаголовок слайда"/>
          <p:cNvSpPr txBox="1"/>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Подзаголовок слайда</a:t>
            </a:r>
          </a:p>
        </p:txBody>
      </p:sp>
      <p:sp>
        <p:nvSpPr>
          <p:cNvPr id="63" name="Уровень текста 1…"/>
          <p:cNvSpPr txBox="1"/>
          <p:nvPr>
            <p:ph type="body" sz="half" idx="1" hasCustomPrompt="1"/>
          </p:nvPr>
        </p:nvSpPr>
        <p:spPr>
          <a:xfrm>
            <a:off x="1219200" y="4023221"/>
            <a:ext cx="9757569" cy="8384679"/>
          </a:xfrm>
          <a:prstGeom prst="rect">
            <a:avLst/>
          </a:prstGeom>
        </p:spPr>
        <p:txBody>
          <a:bodyPr/>
          <a:lstStyle/>
          <a:p>
            <a:pPr/>
            <a:r>
              <a:t>Текст пункта на слайде</a:t>
            </a:r>
          </a:p>
          <a:p>
            <a:pPr lvl="1"/>
            <a:r>
              <a:t/>
            </a:r>
          </a:p>
          <a:p>
            <a:pPr lvl="2"/>
            <a:r>
              <a:t/>
            </a:r>
          </a:p>
          <a:p>
            <a:pPr lvl="3"/>
            <a:r>
              <a:t/>
            </a:r>
          </a:p>
          <a:p>
            <a:pPr lvl="4"/>
            <a:r>
              <a:t/>
            </a:r>
          </a:p>
        </p:txBody>
      </p:sp>
      <p:sp>
        <p:nvSpPr>
          <p:cNvPr id="64" name="Номер слайда"/>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Раздел">
    <p:spTree>
      <p:nvGrpSpPr>
        <p:cNvPr id="1" name=""/>
        <p:cNvGrpSpPr/>
        <p:nvPr/>
      </p:nvGrpSpPr>
      <p:grpSpPr>
        <a:xfrm>
          <a:off x="0" y="0"/>
          <a:ext cx="0" cy="0"/>
          <a:chOff x="0" y="0"/>
          <a:chExt cx="0" cy="0"/>
        </a:xfrm>
      </p:grpSpPr>
      <p:sp>
        <p:nvSpPr>
          <p:cNvPr id="71" name="Заголовок раздела"/>
          <p:cNvSpPr txBox="1"/>
          <p:nvPr>
            <p:ph type="title" hasCustomPrompt="1"/>
          </p:nvPr>
        </p:nvSpPr>
        <p:spPr>
          <a:xfrm>
            <a:off x="1219200" y="3242270"/>
            <a:ext cx="21945600" cy="6604001"/>
          </a:xfrm>
          <a:prstGeom prst="rect">
            <a:avLst/>
          </a:prstGeom>
        </p:spPr>
        <p:txBody>
          <a:bodyPr anchor="ctr"/>
          <a:lstStyle>
            <a:lvl1pPr>
              <a:defRPr spc="0" sz="12800"/>
            </a:lvl1pPr>
          </a:lstStyle>
          <a:p>
            <a:pPr/>
            <a:r>
              <a:t>Заголовок раздела</a:t>
            </a:r>
          </a:p>
        </p:txBody>
      </p:sp>
      <p:sp>
        <p:nvSpPr>
          <p:cNvPr id="72"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Только заголовок">
    <p:spTree>
      <p:nvGrpSpPr>
        <p:cNvPr id="1" name=""/>
        <p:cNvGrpSpPr/>
        <p:nvPr/>
      </p:nvGrpSpPr>
      <p:grpSpPr>
        <a:xfrm>
          <a:off x="0" y="0"/>
          <a:ext cx="0" cy="0"/>
          <a:chOff x="0" y="0"/>
          <a:chExt cx="0" cy="0"/>
        </a:xfrm>
      </p:grpSpPr>
      <p:sp>
        <p:nvSpPr>
          <p:cNvPr id="79" name="Заголовок слайда"/>
          <p:cNvSpPr txBox="1"/>
          <p:nvPr>
            <p:ph type="title" hasCustomPrompt="1"/>
          </p:nvPr>
        </p:nvSpPr>
        <p:spPr>
          <a:prstGeom prst="rect">
            <a:avLst/>
          </a:prstGeom>
        </p:spPr>
        <p:txBody>
          <a:bodyPr/>
          <a:lstStyle/>
          <a:p>
            <a:pPr/>
            <a:r>
              <a:t>Заголовок слайда</a:t>
            </a:r>
          </a:p>
        </p:txBody>
      </p:sp>
      <p:sp>
        <p:nvSpPr>
          <p:cNvPr id="80" name="Подзаголовок слайда"/>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Подзаголовок слайда</a:t>
            </a:r>
          </a:p>
        </p:txBody>
      </p:sp>
      <p:sp>
        <p:nvSpPr>
          <p:cNvPr id="81"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овестка дня">
    <p:spTree>
      <p:nvGrpSpPr>
        <p:cNvPr id="1" name=""/>
        <p:cNvGrpSpPr/>
        <p:nvPr/>
      </p:nvGrpSpPr>
      <p:grpSpPr>
        <a:xfrm>
          <a:off x="0" y="0"/>
          <a:ext cx="0" cy="0"/>
          <a:chOff x="0" y="0"/>
          <a:chExt cx="0" cy="0"/>
        </a:xfrm>
      </p:grpSpPr>
      <p:sp>
        <p:nvSpPr>
          <p:cNvPr id="88" name="Заголовок повестки дня"/>
          <p:cNvSpPr txBox="1"/>
          <p:nvPr>
            <p:ph type="title" hasCustomPrompt="1"/>
          </p:nvPr>
        </p:nvSpPr>
        <p:spPr>
          <a:prstGeom prst="rect">
            <a:avLst/>
          </a:prstGeom>
        </p:spPr>
        <p:txBody>
          <a:bodyPr/>
          <a:lstStyle/>
          <a:p>
            <a:pPr/>
            <a:r>
              <a:t>Заголовок повестки дня</a:t>
            </a:r>
          </a:p>
        </p:txBody>
      </p:sp>
      <p:sp>
        <p:nvSpPr>
          <p:cNvPr id="89" name="Уровень текста 1…"/>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457200" defTabSz="825500">
              <a:lnSpc>
                <a:spcPct val="100000"/>
              </a:lnSpc>
              <a:buSzTx/>
              <a:buNone/>
              <a:defRPr spc="-136" sz="6800">
                <a:latin typeface="Canela Deck Regular"/>
                <a:ea typeface="Canela Deck Regular"/>
                <a:cs typeface="Canela Deck Regular"/>
                <a:sym typeface="Canela Deck Regular"/>
              </a:defRPr>
            </a:lvl2pPr>
            <a:lvl3pPr marL="0" indent="914400" defTabSz="825500">
              <a:lnSpc>
                <a:spcPct val="100000"/>
              </a:lnSpc>
              <a:buSzTx/>
              <a:buNone/>
              <a:defRPr spc="-136" sz="6800">
                <a:latin typeface="Canela Deck Regular"/>
                <a:ea typeface="Canela Deck Regular"/>
                <a:cs typeface="Canela Deck Regular"/>
                <a:sym typeface="Canela Deck Regular"/>
              </a:defRPr>
            </a:lvl3pPr>
            <a:lvl4pPr marL="0" indent="1371600" defTabSz="825500">
              <a:lnSpc>
                <a:spcPct val="100000"/>
              </a:lnSpc>
              <a:buSzTx/>
              <a:buNone/>
              <a:defRPr spc="-136" sz="6800">
                <a:latin typeface="Canela Deck Regular"/>
                <a:ea typeface="Canela Deck Regular"/>
                <a:cs typeface="Canela Deck Regular"/>
                <a:sym typeface="Canela Deck Regular"/>
              </a:defRPr>
            </a:lvl4pPr>
            <a:lvl5pPr marL="0" indent="1828800" defTabSz="825500">
              <a:lnSpc>
                <a:spcPct val="100000"/>
              </a:lnSpc>
              <a:buSzTx/>
              <a:buNone/>
              <a:defRPr spc="-136" sz="6800">
                <a:latin typeface="Canela Deck Regular"/>
                <a:ea typeface="Canela Deck Regular"/>
                <a:cs typeface="Canela Deck Regular"/>
                <a:sym typeface="Canela Deck Regular"/>
              </a:defRPr>
            </a:lvl5pPr>
          </a:lstStyle>
          <a:p>
            <a:pPr/>
            <a:r>
              <a:t>Темы повестки дня</a:t>
            </a:r>
          </a:p>
          <a:p>
            <a:pPr lvl="1"/>
            <a:r>
              <a:t/>
            </a:r>
          </a:p>
          <a:p>
            <a:pPr lvl="2"/>
            <a:r>
              <a:t/>
            </a:r>
          </a:p>
          <a:p>
            <a:pPr lvl="3"/>
            <a:r>
              <a:t/>
            </a:r>
          </a:p>
          <a:p>
            <a:pPr lvl="4"/>
            <a:r>
              <a:t/>
            </a:r>
          </a:p>
        </p:txBody>
      </p:sp>
      <p:sp>
        <p:nvSpPr>
          <p:cNvPr id="90" name="Подзаголовок повестки дня"/>
          <p:cNvSpPr txBox="1"/>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Подзаголовок повестки дня</a:t>
            </a:r>
          </a:p>
        </p:txBody>
      </p:sp>
      <p:sp>
        <p:nvSpPr>
          <p:cNvPr id="91"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Информационное сообщение">
    <p:spTree>
      <p:nvGrpSpPr>
        <p:cNvPr id="1" name=""/>
        <p:cNvGrpSpPr/>
        <p:nvPr/>
      </p:nvGrpSpPr>
      <p:grpSpPr>
        <a:xfrm>
          <a:off x="0" y="0"/>
          <a:ext cx="0" cy="0"/>
          <a:chOff x="0" y="0"/>
          <a:chExt cx="0" cy="0"/>
        </a:xfrm>
      </p:grpSpPr>
      <p:sp>
        <p:nvSpPr>
          <p:cNvPr id="98" name="Уровень текста 1…"/>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pPr/>
            <a:r>
              <a:t>Информационное сообщение</a:t>
            </a:r>
          </a:p>
          <a:p>
            <a:pPr lvl="1"/>
            <a:r>
              <a:t/>
            </a:r>
          </a:p>
          <a:p>
            <a:pPr lvl="2"/>
            <a:r>
              <a:t/>
            </a:r>
          </a:p>
          <a:p>
            <a:pPr lvl="3"/>
            <a:r>
              <a:t/>
            </a:r>
          </a:p>
          <a:p>
            <a:pPr lvl="4"/>
            <a:r>
              <a:t/>
            </a:r>
          </a:p>
        </p:txBody>
      </p:sp>
      <p:sp>
        <p:nvSpPr>
          <p:cNvPr id="99"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Важный факт">
    <p:spTree>
      <p:nvGrpSpPr>
        <p:cNvPr id="1" name=""/>
        <p:cNvGrpSpPr/>
        <p:nvPr/>
      </p:nvGrpSpPr>
      <p:grpSpPr>
        <a:xfrm>
          <a:off x="0" y="0"/>
          <a:ext cx="0" cy="0"/>
          <a:chOff x="0" y="0"/>
          <a:chExt cx="0" cy="0"/>
        </a:xfrm>
      </p:grpSpPr>
      <p:sp>
        <p:nvSpPr>
          <p:cNvPr id="106" name="Информация о факте"/>
          <p:cNvSpPr txBox="1"/>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Информация о факте</a:t>
            </a:r>
          </a:p>
        </p:txBody>
      </p:sp>
      <p:sp>
        <p:nvSpPr>
          <p:cNvPr id="107" name="Уровень текста 1…"/>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pPr/>
            <a:r>
              <a:t>100 %</a:t>
            </a:r>
          </a:p>
          <a:p>
            <a:pPr lvl="1"/>
            <a:r>
              <a:t/>
            </a:r>
          </a:p>
          <a:p>
            <a:pPr lvl="2"/>
            <a:r>
              <a:t/>
            </a:r>
          </a:p>
          <a:p>
            <a:pPr lvl="3"/>
            <a:r>
              <a:t/>
            </a:r>
          </a:p>
          <a:p>
            <a:pPr lvl="4"/>
            <a:r>
              <a:t/>
            </a:r>
          </a:p>
        </p:txBody>
      </p:sp>
      <p:sp>
        <p:nvSpPr>
          <p:cNvPr id="108"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Цитата">
    <p:spTree>
      <p:nvGrpSpPr>
        <p:cNvPr id="1" name=""/>
        <p:cNvGrpSpPr/>
        <p:nvPr/>
      </p:nvGrpSpPr>
      <p:grpSpPr>
        <a:xfrm>
          <a:off x="0" y="0"/>
          <a:ext cx="0" cy="0"/>
          <a:chOff x="0" y="0"/>
          <a:chExt cx="0" cy="0"/>
        </a:xfrm>
      </p:grpSpPr>
      <p:sp>
        <p:nvSpPr>
          <p:cNvPr id="115" name="Авторство"/>
          <p:cNvSpPr txBox="1"/>
          <p:nvPr>
            <p:ph type="body" sz="quarter" idx="21" hasCustomPrompt="1"/>
          </p:nvPr>
        </p:nvSpPr>
        <p:spPr>
          <a:xfrm>
            <a:off x="1219200" y="11100053"/>
            <a:ext cx="21945602" cy="832613"/>
          </a:xfrm>
          <a:prstGeom prst="rect">
            <a:avLst/>
          </a:prstGeom>
        </p:spPr>
        <p:txBody>
          <a:bodyPr anchor="ct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Авторство</a:t>
            </a:r>
          </a:p>
        </p:txBody>
      </p:sp>
      <p:sp>
        <p:nvSpPr>
          <p:cNvPr id="116" name="Уровень текста 1…"/>
          <p:cNvSpPr txBox="1"/>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pPr/>
            <a:r>
              <a:t>«Важная цитата»</a:t>
            </a:r>
          </a:p>
          <a:p>
            <a:pPr lvl="1"/>
            <a:r>
              <a:t/>
            </a:r>
          </a:p>
          <a:p>
            <a:pPr lvl="2"/>
            <a:r>
              <a:t/>
            </a:r>
          </a:p>
          <a:p>
            <a:pPr lvl="3"/>
            <a:r>
              <a:t/>
            </a:r>
          </a:p>
          <a:p>
            <a:pPr lvl="4"/>
            <a:r>
              <a:t/>
            </a:r>
          </a:p>
        </p:txBody>
      </p:sp>
      <p:sp>
        <p:nvSpPr>
          <p:cNvPr id="117"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Фото (3 шт.)">
    <p:spTree>
      <p:nvGrpSpPr>
        <p:cNvPr id="1" name=""/>
        <p:cNvGrpSpPr/>
        <p:nvPr/>
      </p:nvGrpSpPr>
      <p:grpSpPr>
        <a:xfrm>
          <a:off x="0" y="0"/>
          <a:ext cx="0" cy="0"/>
          <a:chOff x="0" y="0"/>
          <a:chExt cx="0" cy="0"/>
        </a:xfrm>
      </p:grpSpPr>
      <p:sp>
        <p:nvSpPr>
          <p:cNvPr id="124" name="Море и небо на закате 2"/>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25" name="Море и небо на закате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26" name="Пляж и море на закате"/>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27"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Фото">
    <p:spTree>
      <p:nvGrpSpPr>
        <p:cNvPr id="1" name=""/>
        <p:cNvGrpSpPr/>
        <p:nvPr/>
      </p:nvGrpSpPr>
      <p:grpSpPr>
        <a:xfrm>
          <a:off x="0" y="0"/>
          <a:ext cx="0" cy="0"/>
          <a:chOff x="0" y="0"/>
          <a:chExt cx="0" cy="0"/>
        </a:xfrm>
      </p:grpSpPr>
      <p:sp>
        <p:nvSpPr>
          <p:cNvPr id="134" name="пляж и море на закате"/>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35"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устой">
    <p:spTree>
      <p:nvGrpSpPr>
        <p:cNvPr id="1" name=""/>
        <p:cNvGrpSpPr/>
        <p:nvPr/>
      </p:nvGrpSpPr>
      <p:grpSpPr>
        <a:xfrm>
          <a:off x="0" y="0"/>
          <a:ext cx="0" cy="0"/>
          <a:chOff x="0" y="0"/>
          <a:chExt cx="0" cy="0"/>
        </a:xfrm>
      </p:grpSpPr>
      <p:sp>
        <p:nvSpPr>
          <p:cNvPr id="142" name="Номер слайда"/>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объект">
    <p:spTree>
      <p:nvGrpSpPr>
        <p:cNvPr id="1" name=""/>
        <p:cNvGrpSpPr/>
        <p:nvPr/>
      </p:nvGrpSpPr>
      <p:grpSpPr>
        <a:xfrm>
          <a:off x="0" y="0"/>
          <a:ext cx="0" cy="0"/>
          <a:chOff x="0" y="0"/>
          <a:chExt cx="0" cy="0"/>
        </a:xfrm>
      </p:grpSpPr>
      <p:sp>
        <p:nvSpPr>
          <p:cNvPr id="149" name="Текст заголовка"/>
          <p:cNvSpPr txBox="1"/>
          <p:nvPr>
            <p:ph type="title"/>
          </p:nvPr>
        </p:nvSpPr>
        <p:spPr>
          <a:xfrm>
            <a:off x="1676400" y="730250"/>
            <a:ext cx="21031200" cy="2651126"/>
          </a:xfrm>
          <a:prstGeom prst="rect">
            <a:avLst/>
          </a:prstGeom>
        </p:spPr>
        <p:txBody>
          <a:bodyPr lIns="91439" tIns="91439" rIns="91439" bIns="91439" anchor="ctr"/>
          <a:lstStyle>
            <a:lvl1pPr algn="l" defTabSz="1828800">
              <a:lnSpc>
                <a:spcPct val="90000"/>
              </a:lnSpc>
              <a:defRPr spc="0" sz="8800">
                <a:latin typeface="Aptos Display"/>
                <a:ea typeface="Aptos Display"/>
                <a:cs typeface="Aptos Display"/>
                <a:sym typeface="Aptos Display"/>
              </a:defRPr>
            </a:lvl1pPr>
          </a:lstStyle>
          <a:p>
            <a:pPr/>
            <a:r>
              <a:t>Текст заголовка</a:t>
            </a:r>
          </a:p>
        </p:txBody>
      </p:sp>
      <p:sp>
        <p:nvSpPr>
          <p:cNvPr id="150" name="Уровень текста 1…"/>
          <p:cNvSpPr txBox="1"/>
          <p:nvPr>
            <p:ph type="body" idx="1"/>
          </p:nvPr>
        </p:nvSpPr>
        <p:spPr>
          <a:xfrm>
            <a:off x="1676400" y="3651250"/>
            <a:ext cx="21031200" cy="8702676"/>
          </a:xfrm>
          <a:prstGeom prst="rect">
            <a:avLst/>
          </a:prstGeom>
        </p:spPr>
        <p:txBody>
          <a:bodyPr lIns="91439" tIns="91439" rIns="91439" bIns="91439"/>
          <a:lstStyle>
            <a:lvl1pPr marL="457200" indent="-457200" defTabSz="1828800">
              <a:spcBef>
                <a:spcPts val="2000"/>
              </a:spcBef>
              <a:buSzPct val="100000"/>
              <a:buFont typeface="Arial"/>
              <a:defRPr sz="5600">
                <a:latin typeface="Aptos"/>
                <a:ea typeface="Aptos"/>
                <a:cs typeface="Aptos"/>
                <a:sym typeface="Aptos"/>
              </a:defRPr>
            </a:lvl1pPr>
            <a:lvl2pPr marL="990600" indent="-533400" defTabSz="1828800">
              <a:spcBef>
                <a:spcPts val="2000"/>
              </a:spcBef>
              <a:buSzPct val="100000"/>
              <a:buFont typeface="Arial"/>
              <a:defRPr sz="5600">
                <a:latin typeface="Aptos"/>
                <a:ea typeface="Aptos"/>
                <a:cs typeface="Aptos"/>
                <a:sym typeface="Aptos"/>
              </a:defRPr>
            </a:lvl2pPr>
            <a:lvl3pPr marL="1554479" indent="-640079" defTabSz="1828800">
              <a:spcBef>
                <a:spcPts val="2000"/>
              </a:spcBef>
              <a:buSzPct val="100000"/>
              <a:buFont typeface="Arial"/>
              <a:defRPr sz="5600">
                <a:latin typeface="Aptos"/>
                <a:ea typeface="Aptos"/>
                <a:cs typeface="Aptos"/>
                <a:sym typeface="Aptos"/>
              </a:defRPr>
            </a:lvl3pPr>
            <a:lvl4pPr marL="2082800" indent="-711200" defTabSz="1828800">
              <a:spcBef>
                <a:spcPts val="2000"/>
              </a:spcBef>
              <a:buSzPct val="100000"/>
              <a:buFont typeface="Arial"/>
              <a:defRPr sz="5600">
                <a:latin typeface="Aptos"/>
                <a:ea typeface="Aptos"/>
                <a:cs typeface="Aptos"/>
                <a:sym typeface="Aptos"/>
              </a:defRPr>
            </a:lvl4pPr>
            <a:lvl5pPr marL="2540000" indent="-711200" defTabSz="1828800">
              <a:spcBef>
                <a:spcPts val="2000"/>
              </a:spcBef>
              <a:buSzPct val="100000"/>
              <a:buFont typeface="Arial"/>
              <a:defRPr sz="5600">
                <a:latin typeface="Aptos"/>
                <a:ea typeface="Aptos"/>
                <a:cs typeface="Aptos"/>
                <a:sym typeface="Aptos"/>
              </a:defRPr>
            </a:lvl5pPr>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51" name="Номер слайда"/>
          <p:cNvSpPr txBox="1"/>
          <p:nvPr>
            <p:ph type="sldNum" sz="quarter" idx="2"/>
          </p:nvPr>
        </p:nvSpPr>
        <p:spPr>
          <a:xfrm>
            <a:off x="22172989" y="12802235"/>
            <a:ext cx="534611" cy="551181"/>
          </a:xfrm>
          <a:prstGeom prst="rect">
            <a:avLst/>
          </a:prstGeom>
        </p:spPr>
        <p:txBody>
          <a:bodyPr lIns="91439" tIns="91439" rIns="91439" bIns="91439" anchor="ctr"/>
          <a:lstStyle>
            <a:lvl1pPr algn="r" defTabSz="1828800">
              <a:defRPr sz="2400">
                <a:solidFill>
                  <a:srgbClr val="757575"/>
                </a:solidFill>
                <a:latin typeface="Aptos"/>
                <a:ea typeface="Aptos"/>
                <a:cs typeface="Aptos"/>
                <a:sym typeface="Aptos"/>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Заголовок слайда"/>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Заголовок слайда</a:t>
            </a:r>
          </a:p>
        </p:txBody>
      </p:sp>
      <p:sp>
        <p:nvSpPr>
          <p:cNvPr id="3" name="Уровень текста 1…"/>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Текст пункта на слайде</a:t>
            </a:r>
          </a:p>
          <a:p>
            <a:pPr lvl="1"/>
            <a:r>
              <a:t/>
            </a:r>
          </a:p>
          <a:p>
            <a:pPr lvl="2"/>
            <a:r>
              <a:t/>
            </a:r>
          </a:p>
          <a:p>
            <a:pPr lvl="3"/>
            <a:r>
              <a:t/>
            </a:r>
          </a:p>
          <a:p>
            <a:pPr lvl="4"/>
            <a:r>
              <a:t/>
            </a:r>
          </a:p>
        </p:txBody>
      </p:sp>
      <p:sp>
        <p:nvSpPr>
          <p:cNvPr id="4" name="Номер слайда"/>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defTabSz="584200">
              <a:lnSpc>
                <a:spcPct val="100000"/>
              </a:lnSpc>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Компьютерная графика"/>
          <p:cNvSpPr txBox="1"/>
          <p:nvPr>
            <p:ph type="ctrTitle"/>
          </p:nvPr>
        </p:nvSpPr>
        <p:spPr>
          <a:prstGeom prst="rect">
            <a:avLst/>
          </a:prstGeom>
        </p:spPr>
        <p:txBody>
          <a:bodyPr/>
          <a:lstStyle/>
          <a:p>
            <a:pPr/>
            <a:r>
              <a:t>Компьютерная графика</a:t>
            </a:r>
          </a:p>
        </p:txBody>
      </p:sp>
      <p:sp>
        <p:nvSpPr>
          <p:cNvPr id="161" name="Лекция 10"/>
          <p:cNvSpPr txBox="1"/>
          <p:nvPr>
            <p:ph type="subTitle" sz="quarter" idx="1"/>
          </p:nvPr>
        </p:nvSpPr>
        <p:spPr>
          <a:prstGeom prst="rect">
            <a:avLst/>
          </a:prstGeom>
        </p:spPr>
        <p:txBody>
          <a:bodyPr/>
          <a:lstStyle/>
          <a:p>
            <a:pPr/>
            <a:r>
              <a:t>Лекция 10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Заголовок 1"/>
          <p:cNvSpPr txBox="1"/>
          <p:nvPr>
            <p:ph type="title"/>
          </p:nvPr>
        </p:nvSpPr>
        <p:spPr>
          <a:prstGeom prst="rect">
            <a:avLst/>
          </a:prstGeom>
        </p:spPr>
        <p:txBody>
          <a:bodyPr/>
          <a:lstStyle/>
          <a:p>
            <a:pPr/>
            <a:r>
              <a:t>Пропавшая текстура</a:t>
            </a:r>
          </a:p>
        </p:txBody>
      </p:sp>
      <p:sp>
        <p:nvSpPr>
          <p:cNvPr id="164" name="Объект 2"/>
          <p:cNvSpPr txBox="1"/>
          <p:nvPr>
            <p:ph type="body" sz="half" idx="1"/>
          </p:nvPr>
        </p:nvSpPr>
        <p:spPr>
          <a:xfrm>
            <a:off x="795131" y="3651250"/>
            <a:ext cx="13000385" cy="8702676"/>
          </a:xfrm>
          <a:prstGeom prst="rect">
            <a:avLst/>
          </a:prstGeom>
        </p:spPr>
        <p:txBody>
          <a:bodyPr/>
          <a:lstStyle/>
          <a:p>
            <a:pPr>
              <a:lnSpc>
                <a:spcPct val="72000"/>
              </a:lnSpc>
              <a:defRPr sz="4600"/>
            </a:pPr>
            <a:r>
              <a:t>Культовая текстура </a:t>
            </a:r>
            <a:r>
              <a:rPr i="1"/>
              <a:t>Checkerboard</a:t>
            </a:r>
            <a:r>
              <a:t> (шахматная доска) в </a:t>
            </a:r>
            <a:r>
              <a:rPr i="1"/>
              <a:t>Source Engine</a:t>
            </a:r>
            <a:r>
              <a:t> (или фиолетово-черная в Unreal) – это не дизайнерское решение, а дефолтный материал, который подставляется, когда движок не может найти файл.</a:t>
            </a:r>
          </a:p>
          <a:p>
            <a:pPr>
              <a:lnSpc>
                <a:spcPct val="72000"/>
              </a:lnSpc>
              <a:defRPr sz="4600"/>
            </a:pPr>
            <a:r>
              <a:t>Если в движке Unreal Engine текстура не загружается, вы видите фиолетово-черный шахматный узор. В Source Engine – черно-розовая шахматка.</a:t>
            </a:r>
          </a:p>
          <a:p>
            <a:pPr>
              <a:lnSpc>
                <a:spcPct val="72000"/>
              </a:lnSpc>
              <a:defRPr sz="4600"/>
            </a:pPr>
            <a:r>
              <a:t>Это не арт-дизайн. Это маркер разработчика: «Здесь должна быть текстура, но она не нашлась».</a:t>
            </a:r>
          </a:p>
        </p:txBody>
      </p:sp>
      <p:pic>
        <p:nvPicPr>
          <p:cNvPr id="165" name="Picture 2" descr="Picture 2"/>
          <p:cNvPicPr>
            <a:picLocks noChangeAspect="1"/>
          </p:cNvPicPr>
          <p:nvPr/>
        </p:nvPicPr>
        <p:blipFill>
          <a:blip r:embed="rId2">
            <a:extLst/>
          </a:blip>
          <a:stretch>
            <a:fillRect/>
          </a:stretch>
        </p:blipFill>
        <p:spPr>
          <a:xfrm>
            <a:off x="13735263" y="4770782"/>
            <a:ext cx="10317434" cy="580355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Заголовок 1"/>
          <p:cNvSpPr txBox="1"/>
          <p:nvPr>
            <p:ph type="title"/>
          </p:nvPr>
        </p:nvSpPr>
        <p:spPr>
          <a:prstGeom prst="rect">
            <a:avLst/>
          </a:prstGeom>
        </p:spPr>
        <p:txBody>
          <a:bodyPr/>
          <a:lstStyle/>
          <a:p>
            <a:pPr/>
            <a:r>
              <a:t>Алиасинг</a:t>
            </a:r>
          </a:p>
        </p:txBody>
      </p:sp>
      <p:sp>
        <p:nvSpPr>
          <p:cNvPr id="168" name="Объект 2"/>
          <p:cNvSpPr txBox="1"/>
          <p:nvPr>
            <p:ph type="body" sz="half" idx="1"/>
          </p:nvPr>
        </p:nvSpPr>
        <p:spPr>
          <a:xfrm>
            <a:off x="1000542" y="3381373"/>
            <a:ext cx="11191458" cy="9604376"/>
          </a:xfrm>
          <a:prstGeom prst="rect">
            <a:avLst/>
          </a:prstGeom>
        </p:spPr>
        <p:txBody>
          <a:bodyPr/>
          <a:lstStyle/>
          <a:p>
            <a:pPr>
              <a:lnSpc>
                <a:spcPct val="72000"/>
              </a:lnSpc>
              <a:defRPr sz="4600"/>
            </a:pPr>
            <a:r>
              <a:t>Алиасинг - это когда диагональная линия выглядит как лестница.</a:t>
            </a:r>
          </a:p>
          <a:p>
            <a:pPr>
              <a:lnSpc>
                <a:spcPct val="72000"/>
              </a:lnSpc>
              <a:defRPr sz="4600"/>
            </a:pPr>
            <a:r>
              <a:t>Алиасинг - это визуальный эффект в компьютерной графике, при котором диагональные или кривые линии выглядят как набор ступенек («лесенка») вместо плавной кривой. Он возникает из-за дискретной природы растровой графики: экраны состоят из квадратных пикселей, расположенных в виде сетки. Когда нужно отобразить линию, которая не является строго горизонтальной или вертикальной, происходит квантование — округление координат линии до ближайших целых значений пикселей.</a:t>
            </a:r>
          </a:p>
        </p:txBody>
      </p:sp>
      <p:pic>
        <p:nvPicPr>
          <p:cNvPr id="169" name="Рисунок 6" descr="Рисунок 6"/>
          <p:cNvPicPr>
            <a:picLocks noChangeAspect="1"/>
          </p:cNvPicPr>
          <p:nvPr/>
        </p:nvPicPr>
        <p:blipFill>
          <a:blip r:embed="rId2">
            <a:extLst/>
          </a:blip>
          <a:stretch>
            <a:fillRect/>
          </a:stretch>
        </p:blipFill>
        <p:spPr>
          <a:xfrm>
            <a:off x="12192000" y="4564538"/>
            <a:ext cx="12192003" cy="6101954"/>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Минимизация эффекта алиасинга"/>
          <p:cNvSpPr txBox="1"/>
          <p:nvPr>
            <p:ph type="title"/>
          </p:nvPr>
        </p:nvSpPr>
        <p:spPr>
          <a:xfrm>
            <a:off x="1676400" y="232617"/>
            <a:ext cx="21031200" cy="1586265"/>
          </a:xfrm>
          <a:prstGeom prst="rect">
            <a:avLst/>
          </a:prstGeom>
        </p:spPr>
        <p:txBody>
          <a:bodyPr/>
          <a:lstStyle/>
          <a:p>
            <a:pPr/>
            <a:r>
              <a:t>Минимизация эффекта алиасинга</a:t>
            </a:r>
          </a:p>
        </p:txBody>
      </p:sp>
      <p:sp>
        <p:nvSpPr>
          <p:cNvPr id="172" name="Минимизировать этот эффект можно, если залить пространство между контрастными пикселями промежуточным цветом. Например, между чёрными и белыми пикселями разместить серые."/>
          <p:cNvSpPr txBox="1"/>
          <p:nvPr>
            <p:ph type="body" sz="quarter" idx="1"/>
          </p:nvPr>
        </p:nvSpPr>
        <p:spPr>
          <a:xfrm>
            <a:off x="368306" y="2163436"/>
            <a:ext cx="6466154" cy="10190490"/>
          </a:xfrm>
          <a:prstGeom prst="rect">
            <a:avLst/>
          </a:prstGeom>
        </p:spPr>
        <p:txBody>
          <a:bodyPr/>
          <a:lstStyle>
            <a:lvl1pPr marL="416052" indent="-416052" defTabSz="1664208">
              <a:spcBef>
                <a:spcPts val="1800"/>
              </a:spcBef>
              <a:defRPr sz="5096"/>
            </a:lvl1pPr>
          </a:lstStyle>
          <a:p>
            <a:pPr/>
            <a:r>
              <a:t> Минимизировать этот эффект можно, если залить пространство между контрастными пикселями промежуточным цветом. Например, между чёрными и белыми пикселями разместить серые.</a:t>
            </a:r>
          </a:p>
        </p:txBody>
      </p:sp>
      <p:pic>
        <p:nvPicPr>
          <p:cNvPr id="173" name="Изображение" descr="Изображение"/>
          <p:cNvPicPr>
            <a:picLocks noChangeAspect="1"/>
          </p:cNvPicPr>
          <p:nvPr/>
        </p:nvPicPr>
        <p:blipFill>
          <a:blip r:embed="rId2">
            <a:extLst/>
          </a:blip>
          <a:stretch>
            <a:fillRect/>
          </a:stretch>
        </p:blipFill>
        <p:spPr>
          <a:xfrm>
            <a:off x="7108612" y="3257211"/>
            <a:ext cx="16758132" cy="8759933"/>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Алгоритм FXAA (Fast Approximate Anti-Aliasing)"/>
          <p:cNvSpPr txBox="1"/>
          <p:nvPr>
            <p:ph type="title"/>
          </p:nvPr>
        </p:nvSpPr>
        <p:spPr>
          <a:xfrm>
            <a:off x="1676400" y="137830"/>
            <a:ext cx="21031200" cy="2651127"/>
          </a:xfrm>
          <a:prstGeom prst="rect">
            <a:avLst/>
          </a:prstGeom>
        </p:spPr>
        <p:txBody>
          <a:bodyPr/>
          <a:lstStyle>
            <a:lvl1pPr defTabSz="1755647">
              <a:defRPr sz="8448"/>
            </a:lvl1pPr>
          </a:lstStyle>
          <a:p>
            <a:pPr/>
            <a:r>
              <a:t>Алгоритм FXAA (Fast Approximate Anti-Aliasing)</a:t>
            </a:r>
          </a:p>
        </p:txBody>
      </p:sp>
      <p:sp>
        <p:nvSpPr>
          <p:cNvPr id="176" name="FXAA анализирует готовое изображение, пытаясь обнаружить пиксельные «ступеньки». Обнаружив их, алгоритм сглаживает его, размешивая цвета соседних пикселей вдоль проблемной границы. Проще говоря, FXAA размывает участки изображения, где заметны зубчатые ли"/>
          <p:cNvSpPr txBox="1"/>
          <p:nvPr>
            <p:ph type="body" sz="half" idx="1"/>
          </p:nvPr>
        </p:nvSpPr>
        <p:spPr>
          <a:xfrm>
            <a:off x="847012" y="3627553"/>
            <a:ext cx="7905706" cy="8702677"/>
          </a:xfrm>
          <a:prstGeom prst="rect">
            <a:avLst/>
          </a:prstGeom>
        </p:spPr>
        <p:txBody>
          <a:bodyPr/>
          <a:lstStyle>
            <a:lvl1pPr marL="352043" indent="-352043" defTabSz="1408175">
              <a:spcBef>
                <a:spcPts val="1500"/>
              </a:spcBef>
              <a:defRPr sz="4312"/>
            </a:lvl1pPr>
          </a:lstStyle>
          <a:p>
            <a:pPr/>
            <a:r>
              <a:t>FXAA анализирует готовое изображение, пытаясь обнаружить пиксельные «ступеньки». Обнаружив их, алгоритм сглаживает его, размешивая цвета соседних пикселей вдоль проблемной границы. Проще говоря, FXAA размывает участки изображения, где заметны зубчатые линии, создавая иллюзию более гладких краёв.</a:t>
            </a:r>
          </a:p>
        </p:txBody>
      </p:sp>
      <p:pic>
        <p:nvPicPr>
          <p:cNvPr id="177" name="Изображение" descr="Изображение"/>
          <p:cNvPicPr>
            <a:picLocks noChangeAspect="1"/>
          </p:cNvPicPr>
          <p:nvPr/>
        </p:nvPicPr>
        <p:blipFill>
          <a:blip r:embed="rId2">
            <a:extLst/>
          </a:blip>
          <a:stretch>
            <a:fillRect/>
          </a:stretch>
        </p:blipFill>
        <p:spPr>
          <a:xfrm>
            <a:off x="12595731" y="1415959"/>
            <a:ext cx="11057742" cy="6218186"/>
          </a:xfrm>
          <a:prstGeom prst="rect">
            <a:avLst/>
          </a:prstGeom>
          <a:ln w="12700">
            <a:miter lim="400000"/>
          </a:ln>
        </p:spPr>
      </p:pic>
      <p:pic>
        <p:nvPicPr>
          <p:cNvPr id="178" name="Изображение" descr="Изображение"/>
          <p:cNvPicPr>
            <a:picLocks noChangeAspect="1"/>
          </p:cNvPicPr>
          <p:nvPr/>
        </p:nvPicPr>
        <p:blipFill>
          <a:blip r:embed="rId3">
            <a:extLst/>
          </a:blip>
          <a:stretch>
            <a:fillRect/>
          </a:stretch>
        </p:blipFill>
        <p:spPr>
          <a:xfrm>
            <a:off x="8860848" y="6768019"/>
            <a:ext cx="12016562" cy="6757366"/>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mporal Anti-Aliasing (TAA)"/>
          <p:cNvSpPr txBox="1"/>
          <p:nvPr>
            <p:ph type="title"/>
          </p:nvPr>
        </p:nvSpPr>
        <p:spPr>
          <a:prstGeom prst="rect">
            <a:avLst/>
          </a:prstGeom>
        </p:spPr>
        <p:txBody>
          <a:bodyPr/>
          <a:lstStyle/>
          <a:p>
            <a:pPr/>
            <a:r>
              <a:t>Temporal Anti-Aliasing (TAA)</a:t>
            </a:r>
          </a:p>
        </p:txBody>
      </p:sp>
      <p:sp>
        <p:nvSpPr>
          <p:cNvPr id="181" name="Временное сглаживание (TAA), также известное как TXAA (запатентованная технология) или TMAA/TSSAA (временное сглаживание с суперсэмплированием), представляет собой метод пространственного сглаживания для видео, созданного компьютером. Этот метод объединя"/>
          <p:cNvSpPr txBox="1"/>
          <p:nvPr>
            <p:ph type="body" idx="1"/>
          </p:nvPr>
        </p:nvSpPr>
        <p:spPr>
          <a:prstGeom prst="rect">
            <a:avLst/>
          </a:prstGeom>
        </p:spPr>
        <p:txBody>
          <a:bodyPr/>
          <a:lstStyle>
            <a:lvl1pPr marL="384047" indent="-384047" defTabSz="1536191">
              <a:spcBef>
                <a:spcPts val="1600"/>
              </a:spcBef>
              <a:defRPr sz="4703"/>
            </a:lvl1pPr>
          </a:lstStyle>
          <a:p>
            <a:pPr/>
            <a:r>
              <a:t>Временное сглаживание (TAA), также известное как TXAA (запатентованная технология) или TMAA/TSSAA (временное сглаживание с суперсэмплированием), представляет собой метод пространственного сглаживания для видео, созданного компьютером. Этот метод объединяет информацию из предыдущих кадров с текущим, чтобы устранить неровности в текущем кадре. В технологии TAA каждый пиксель выбирается только один раз для каждого кадра. Однако в каждом новом кадре место выборки меняется. Пиксели, отобранные в предыдущих кадрах, смешиваются с пикселями из текущего кадра, чтобы создать сглаженное изображение. Хотя метод TAA позволяет достичь результатов, сопоставимых с суперсэмплингом, он неизбежно приводит к появлению ореолов и размытости на изображении.</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Temporal Anti-Aliasing (TAA)"/>
          <p:cNvSpPr txBox="1"/>
          <p:nvPr>
            <p:ph type="title"/>
          </p:nvPr>
        </p:nvSpPr>
        <p:spPr>
          <a:xfrm>
            <a:off x="1676400" y="232617"/>
            <a:ext cx="21031200" cy="1649589"/>
          </a:xfrm>
          <a:prstGeom prst="rect">
            <a:avLst/>
          </a:prstGeom>
        </p:spPr>
        <p:txBody>
          <a:bodyPr/>
          <a:lstStyle/>
          <a:p>
            <a:pPr/>
            <a:r>
              <a:t>Temporal Anti-Aliasing (TAA)</a:t>
            </a:r>
          </a:p>
        </p:txBody>
      </p:sp>
      <p:pic>
        <p:nvPicPr>
          <p:cNvPr id="184" name="Изображение" descr="Изображение"/>
          <p:cNvPicPr>
            <a:picLocks noChangeAspect="1"/>
          </p:cNvPicPr>
          <p:nvPr/>
        </p:nvPicPr>
        <p:blipFill>
          <a:blip r:embed="rId2">
            <a:extLst/>
          </a:blip>
          <a:stretch>
            <a:fillRect/>
          </a:stretch>
        </p:blipFill>
        <p:spPr>
          <a:xfrm>
            <a:off x="1863974" y="1739000"/>
            <a:ext cx="21031201" cy="1182663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Temporal Anti-Aliasing (TAA)"/>
          <p:cNvSpPr txBox="1"/>
          <p:nvPr>
            <p:ph type="title"/>
          </p:nvPr>
        </p:nvSpPr>
        <p:spPr>
          <a:prstGeom prst="rect">
            <a:avLst/>
          </a:prstGeom>
        </p:spPr>
        <p:txBody>
          <a:bodyPr/>
          <a:lstStyle/>
          <a:p>
            <a:pPr/>
            <a:r>
              <a:t>Temporal Anti-Aliasing (TAA)</a:t>
            </a:r>
          </a:p>
        </p:txBody>
      </p:sp>
      <p:sp>
        <p:nvSpPr>
          <p:cNvPr id="187" name="Единственная серьёзная проблема, которую создаёт временное сглаживание, — графические артефакты. Когда кадр сильно меняется относительно предыдущего, часть изображения остаётся на экране. Этот эффект называется гостингом, и его часто можно встретить в го"/>
          <p:cNvSpPr txBox="1"/>
          <p:nvPr>
            <p:ph type="body" sz="quarter" idx="1"/>
          </p:nvPr>
        </p:nvSpPr>
        <p:spPr>
          <a:xfrm>
            <a:off x="1676400" y="3651250"/>
            <a:ext cx="5215734" cy="8702676"/>
          </a:xfrm>
          <a:prstGeom prst="rect">
            <a:avLst/>
          </a:prstGeom>
        </p:spPr>
        <p:txBody>
          <a:bodyPr/>
          <a:lstStyle>
            <a:lvl1pPr marL="265175" indent="-265175" defTabSz="1060703">
              <a:spcBef>
                <a:spcPts val="1100"/>
              </a:spcBef>
              <a:defRPr sz="3248"/>
            </a:lvl1pPr>
          </a:lstStyle>
          <a:p>
            <a:pPr/>
            <a:r>
              <a:t>Единственная серьёзная проблема, которую создаёт временное сглаживание, — графические артефакты. Когда кадр сильно меняется относительно предыдущего, часть изображения остаётся на экране. Этот эффект называется гостингом, и его часто можно встретить в гонках, где машины могут за пару кадров преодолеть большое расстояние.</a:t>
            </a:r>
          </a:p>
        </p:txBody>
      </p:sp>
      <p:pic>
        <p:nvPicPr>
          <p:cNvPr id="188" name="Изображение" descr="Изображение"/>
          <p:cNvPicPr>
            <a:picLocks noChangeAspect="1"/>
          </p:cNvPicPr>
          <p:nvPr/>
        </p:nvPicPr>
        <p:blipFill>
          <a:blip r:embed="rId2">
            <a:extLst/>
          </a:blip>
          <a:stretch>
            <a:fillRect/>
          </a:stretch>
        </p:blipFill>
        <p:spPr>
          <a:xfrm>
            <a:off x="6908800" y="2819844"/>
            <a:ext cx="17362758" cy="9766552"/>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0" name="Picture 4" descr="Picture 4"/>
          <p:cNvPicPr>
            <a:picLocks noChangeAspect="1"/>
          </p:cNvPicPr>
          <p:nvPr/>
        </p:nvPicPr>
        <p:blipFill>
          <a:blip r:embed="rId2">
            <a:extLst/>
          </a:blip>
          <a:stretch>
            <a:fillRect/>
          </a:stretch>
        </p:blipFill>
        <p:spPr>
          <a:xfrm>
            <a:off x="-7923166" y="2"/>
            <a:ext cx="40221028" cy="13716001"/>
          </a:xfrm>
          <a:prstGeom prst="rect">
            <a:avLst/>
          </a:prstGeom>
          <a:ln w="12700">
            <a:miter lim="400000"/>
          </a:ln>
        </p:spPr>
      </p:pic>
      <p:sp>
        <p:nvSpPr>
          <p:cNvPr id="191" name="Заголовок 1"/>
          <p:cNvSpPr txBox="1"/>
          <p:nvPr>
            <p:ph type="title"/>
          </p:nvPr>
        </p:nvSpPr>
        <p:spPr>
          <a:prstGeom prst="rect">
            <a:avLst/>
          </a:prstGeom>
        </p:spPr>
        <p:txBody>
          <a:bodyPr/>
          <a:lstStyle/>
          <a:p>
            <a:pPr defTabSz="1755647">
              <a:defRPr sz="8448">
                <a:solidFill>
                  <a:srgbClr val="FFFFFF"/>
                </a:solidFill>
              </a:defRPr>
            </a:pPr>
            <a:r>
              <a:t>Антиалиасинг</a:t>
            </a:r>
            <a:r>
              <a:t>. </a:t>
            </a:r>
            <a:r>
              <a:t>Избыточная выборка сглаживания или суперсемплинг</a:t>
            </a:r>
          </a:p>
        </p:txBody>
      </p:sp>
      <p:sp>
        <p:nvSpPr>
          <p:cNvPr id="192" name="Объект 2"/>
          <p:cNvSpPr txBox="1"/>
          <p:nvPr>
            <p:ph type="body" sz="half" idx="1"/>
          </p:nvPr>
        </p:nvSpPr>
        <p:spPr>
          <a:xfrm>
            <a:off x="397565" y="6042991"/>
            <a:ext cx="17810922" cy="6942758"/>
          </a:xfrm>
          <a:prstGeom prst="rect">
            <a:avLst/>
          </a:prstGeom>
        </p:spPr>
        <p:txBody>
          <a:bodyPr/>
          <a:lstStyle/>
          <a:p>
            <a:pPr>
              <a:defRPr>
                <a:solidFill>
                  <a:srgbClr val="FFFFFF"/>
                </a:solidFill>
              </a:defRPr>
            </a:pPr>
            <a:r>
              <a:t>Избыточная выборка сглаживания или суперсемплинг (англ. Supersample anti-aliasing, SSAA) - это наиболее простая и, вместе с тем, ресурсоёмкая техника сглаживания.</a:t>
            </a:r>
          </a:p>
          <a:p>
            <a:pPr>
              <a:defRPr>
                <a:solidFill>
                  <a:srgbClr val="FFFFFF"/>
                </a:solidFill>
              </a:defRPr>
            </a:pPr>
            <a:r>
              <a:t>Supersampling (SSAA) - это метод "ударить по проблеме деньгами и ресурсами". Рендерить в 4K, потом сжать до 1080p.</a:t>
            </a:r>
            <a:r>
              <a:t> </a:t>
            </a:r>
            <a:r>
              <a:t>Это работает, но требует в 4 раза больше ресурсов.</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Избыточная выборка сглаживания или суперсемплинг (SSAA)"/>
          <p:cNvSpPr txBox="1"/>
          <p:nvPr>
            <p:ph type="title"/>
          </p:nvPr>
        </p:nvSpPr>
        <p:spPr>
          <a:prstGeom prst="rect">
            <a:avLst/>
          </a:prstGeom>
        </p:spPr>
        <p:txBody>
          <a:bodyPr/>
          <a:lstStyle>
            <a:lvl1pPr defTabSz="1755647">
              <a:defRPr sz="8448"/>
            </a:lvl1pPr>
          </a:lstStyle>
          <a:p>
            <a:pPr/>
            <a:r>
              <a:t>Избыточная выборка сглаживания или суперсемплинг (SSAA)</a:t>
            </a:r>
          </a:p>
        </p:txBody>
      </p:sp>
      <p:sp>
        <p:nvSpPr>
          <p:cNvPr id="195" name="Итоговый цвет пикселя определяется как усредненное значение цветов всех соответствующих ему субпикселей.…"/>
          <p:cNvSpPr txBox="1"/>
          <p:nvPr>
            <p:ph type="body" idx="1"/>
          </p:nvPr>
        </p:nvSpPr>
        <p:spPr>
          <a:prstGeom prst="rect">
            <a:avLst/>
          </a:prstGeom>
        </p:spPr>
        <p:txBody>
          <a:bodyPr/>
          <a:lstStyle/>
          <a:p>
            <a:pPr marL="0" indent="0" defTabSz="457200">
              <a:lnSpc>
                <a:spcPct val="100000"/>
              </a:lnSpc>
              <a:spcBef>
                <a:spcPts val="1600"/>
              </a:spcBef>
              <a:buSzTx/>
              <a:buFontTx/>
              <a:buNone/>
              <a:defRPr sz="4400">
                <a:solidFill>
                  <a:srgbClr val="202122"/>
                </a:solidFill>
                <a:latin typeface="Helvetica"/>
                <a:ea typeface="Helvetica"/>
                <a:cs typeface="Helvetica"/>
                <a:sym typeface="Helvetica"/>
              </a:defRPr>
            </a:pPr>
            <a:r>
              <a:t>Итоговый цвет пикселя определяется как усредненное значение цветов всех соответствующих ему субпикселей.</a:t>
            </a:r>
          </a:p>
          <a:p>
            <a:pPr marL="0" indent="0" defTabSz="457200">
              <a:lnSpc>
                <a:spcPct val="100000"/>
              </a:lnSpc>
              <a:spcBef>
                <a:spcPts val="1600"/>
              </a:spcBef>
              <a:buSzTx/>
              <a:buFontTx/>
              <a:buNone/>
              <a:defRPr sz="4400">
                <a:solidFill>
                  <a:srgbClr val="202122"/>
                </a:solidFill>
                <a:latin typeface="Helvetica"/>
                <a:ea typeface="Helvetica"/>
                <a:cs typeface="Helvetica"/>
                <a:sym typeface="Helvetica"/>
              </a:defRPr>
            </a:pPr>
            <a:r>
              <a:t>где:</a:t>
            </a:r>
          </a:p>
          <a:p>
            <a:pPr marL="457199" indent="-317499" defTabSz="457200">
              <a:lnSpc>
                <a:spcPct val="100000"/>
              </a:lnSpc>
              <a:spcBef>
                <a:spcPts val="100"/>
              </a:spcBef>
              <a:buClr>
                <a:srgbClr val="202122"/>
              </a:buClr>
              <a:buFont typeface="Helvetica"/>
              <a:defRPr sz="4400">
                <a:solidFill>
                  <a:srgbClr val="202122"/>
                </a:solidFill>
                <a:latin typeface="Helvetica"/>
                <a:ea typeface="Helvetica"/>
                <a:cs typeface="Helvetica"/>
                <a:sym typeface="Helvetica"/>
              </a:defRPr>
            </a:pPr>
            <a:r>
              <a:t> — итоговый цвет пикселя,</a:t>
            </a:r>
          </a:p>
          <a:p>
            <a:pPr marL="457199" indent="-317499" defTabSz="457200">
              <a:lnSpc>
                <a:spcPct val="100000"/>
              </a:lnSpc>
              <a:spcBef>
                <a:spcPts val="100"/>
              </a:spcBef>
              <a:buClr>
                <a:srgbClr val="202122"/>
              </a:buClr>
              <a:buFont typeface="Helvetica"/>
              <a:defRPr sz="4400">
                <a:solidFill>
                  <a:srgbClr val="202122"/>
                </a:solidFill>
                <a:latin typeface="Helvetica"/>
                <a:ea typeface="Helvetica"/>
                <a:cs typeface="Helvetica"/>
                <a:sym typeface="Helvetica"/>
              </a:defRPr>
            </a:pPr>
            <a:r>
              <a:t> — количество выборок на пиксель,</a:t>
            </a:r>
          </a:p>
          <a:p>
            <a:pPr marL="457199" indent="-317499" defTabSz="457200">
              <a:lnSpc>
                <a:spcPct val="100000"/>
              </a:lnSpc>
              <a:spcBef>
                <a:spcPts val="100"/>
              </a:spcBef>
              <a:buClr>
                <a:srgbClr val="202122"/>
              </a:buClr>
              <a:buFont typeface="Helvetica"/>
              <a:defRPr sz="4400">
                <a:solidFill>
                  <a:srgbClr val="202122"/>
                </a:solidFill>
                <a:latin typeface="Helvetica"/>
                <a:ea typeface="Helvetica"/>
                <a:cs typeface="Helvetica"/>
                <a:sym typeface="Helvetica"/>
              </a:defRPr>
            </a:pPr>
            <a:r>
              <a:t> — цвет </a:t>
            </a:r>
            <a:r>
              <a:t>-й выборки.</a:t>
            </a:r>
          </a:p>
        </p:txBody>
      </p:sp>
      <p:pic>
        <p:nvPicPr>
          <p:cNvPr id="196" name="b4f88577982319b6027721d989374b04560377b8.svg" descr="b4f88577982319b6027721d989374b04560377b8.svg"/>
          <p:cNvPicPr>
            <a:picLocks noChangeAspect="1"/>
          </p:cNvPicPr>
          <p:nvPr/>
        </p:nvPicPr>
        <p:blipFill>
          <a:blip r:embed="rId2">
            <a:extLst/>
          </a:blip>
          <a:stretch>
            <a:fillRect/>
          </a:stretch>
        </p:blipFill>
        <p:spPr>
          <a:xfrm>
            <a:off x="1676400" y="3651250"/>
            <a:ext cx="12044320" cy="2111198"/>
          </a:xfrm>
          <a:prstGeom prst="rect">
            <a:avLst/>
          </a:prstGeom>
          <a:ln w="12700">
            <a:miter lim="400000"/>
          </a:ln>
        </p:spPr>
      </p:pic>
      <p:pic>
        <p:nvPicPr>
          <p:cNvPr id="197" name="0d1ecb613aa2984f0576f70f86650b7c2a132538.svg" descr="0d1ecb613aa2984f0576f70f86650b7c2a132538.svg"/>
          <p:cNvPicPr>
            <a:picLocks noChangeAspect="1"/>
          </p:cNvPicPr>
          <p:nvPr/>
        </p:nvPicPr>
        <p:blipFill>
          <a:blip r:embed="rId3">
            <a:extLst/>
          </a:blip>
          <a:stretch>
            <a:fillRect/>
          </a:stretch>
        </p:blipFill>
        <p:spPr>
          <a:xfrm>
            <a:off x="1676400" y="3651250"/>
            <a:ext cx="302131" cy="482656"/>
          </a:xfrm>
          <a:prstGeom prst="rect">
            <a:avLst/>
          </a:prstGeom>
          <a:ln w="12700">
            <a:miter lim="400000"/>
          </a:ln>
        </p:spPr>
      </p:pic>
      <p:pic>
        <p:nvPicPr>
          <p:cNvPr id="198" name="a601995d55609f2d9f5e233e36fbe9ea26011b3b.svg" descr="a601995d55609f2d9f5e233e36fbe9ea26011b3b.svg"/>
          <p:cNvPicPr>
            <a:picLocks noChangeAspect="1"/>
          </p:cNvPicPr>
          <p:nvPr/>
        </p:nvPicPr>
        <p:blipFill>
          <a:blip r:embed="rId4">
            <a:extLst/>
          </a:blip>
          <a:stretch>
            <a:fillRect/>
          </a:stretch>
        </p:blipFill>
        <p:spPr>
          <a:xfrm>
            <a:off x="1676400" y="3651250"/>
            <a:ext cx="445436" cy="535080"/>
          </a:xfrm>
          <a:prstGeom prst="rect">
            <a:avLst/>
          </a:prstGeom>
          <a:ln w="12700">
            <a:miter lim="400000"/>
          </a:ln>
        </p:spPr>
      </p:pic>
      <p:pic>
        <p:nvPicPr>
          <p:cNvPr id="199" name="cfda82668232cbdc0874ed28ab8b6079420d1ffe.svg" descr="cfda82668232cbdc0874ed28ab8b6079420d1ffe.svg"/>
          <p:cNvPicPr>
            <a:picLocks noChangeAspect="1"/>
          </p:cNvPicPr>
          <p:nvPr/>
        </p:nvPicPr>
        <p:blipFill>
          <a:blip r:embed="rId5">
            <a:extLst/>
          </a:blip>
          <a:stretch>
            <a:fillRect/>
          </a:stretch>
        </p:blipFill>
        <p:spPr>
          <a:xfrm>
            <a:off x="1676400" y="3651250"/>
            <a:ext cx="754933" cy="802769"/>
          </a:xfrm>
          <a:prstGeom prst="rect">
            <a:avLst/>
          </a:prstGeom>
          <a:ln w="12700">
            <a:miter lim="400000"/>
          </a:ln>
        </p:spPr>
      </p:pic>
      <p:pic>
        <p:nvPicPr>
          <p:cNvPr id="200" name="add78d8608ad86e54951b8c8bd6c8d8416533d20.svg" descr="add78d8608ad86e54951b8c8bd6c8d8416533d20.svg"/>
          <p:cNvPicPr>
            <a:picLocks noChangeAspect="1"/>
          </p:cNvPicPr>
          <p:nvPr/>
        </p:nvPicPr>
        <p:blipFill>
          <a:blip r:embed="rId6">
            <a:extLst/>
          </a:blip>
          <a:stretch>
            <a:fillRect/>
          </a:stretch>
        </p:blipFill>
        <p:spPr>
          <a:xfrm>
            <a:off x="1676400" y="3651250"/>
            <a:ext cx="73025" cy="19824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Заголовок 1"/>
          <p:cNvSpPr txBox="1"/>
          <p:nvPr>
            <p:ph type="title"/>
          </p:nvPr>
        </p:nvSpPr>
        <p:spPr>
          <a:prstGeom prst="rect">
            <a:avLst/>
          </a:prstGeom>
        </p:spPr>
        <p:txBody>
          <a:bodyPr/>
          <a:lstStyle/>
          <a:p>
            <a:pPr defTabSz="1755647">
              <a:defRPr sz="8448"/>
            </a:pPr>
            <a:r>
              <a:t>Антиалиасинг</a:t>
            </a:r>
            <a:r>
              <a:t>. </a:t>
            </a:r>
            <a:r>
              <a:t>Избыточная выборка сглаживания или суперсемплинг</a:t>
            </a:r>
          </a:p>
        </p:txBody>
      </p:sp>
      <p:sp>
        <p:nvSpPr>
          <p:cNvPr id="203" name="Объект 2"/>
          <p:cNvSpPr txBox="1"/>
          <p:nvPr>
            <p:ph type="body" sz="half" idx="1"/>
          </p:nvPr>
        </p:nvSpPr>
        <p:spPr>
          <a:xfrm>
            <a:off x="397568" y="3381376"/>
            <a:ext cx="7633252" cy="9102173"/>
          </a:xfrm>
          <a:prstGeom prst="rect">
            <a:avLst/>
          </a:prstGeom>
        </p:spPr>
        <p:txBody>
          <a:bodyPr/>
          <a:lstStyle/>
          <a:p>
            <a:pPr/>
            <a:r>
              <a:t>Сейчас суперсэмплинг используется уже редко, хотя и нашел новое применение в качестве настроек в драйверах для видеокарт AMD и NVIDIA.</a:t>
            </a:r>
          </a:p>
        </p:txBody>
      </p:sp>
      <p:pic>
        <p:nvPicPr>
          <p:cNvPr id="204" name="Picture 2" descr="Picture 2"/>
          <p:cNvPicPr>
            <a:picLocks noChangeAspect="1"/>
          </p:cNvPicPr>
          <p:nvPr/>
        </p:nvPicPr>
        <p:blipFill>
          <a:blip r:embed="rId2">
            <a:extLst/>
          </a:blip>
          <a:stretch>
            <a:fillRect/>
          </a:stretch>
        </p:blipFill>
        <p:spPr>
          <a:xfrm>
            <a:off x="8030819" y="3381376"/>
            <a:ext cx="16353181" cy="8774929"/>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Заголовок 1"/>
          <p:cNvSpPr txBox="1"/>
          <p:nvPr>
            <p:ph type="title"/>
          </p:nvPr>
        </p:nvSpPr>
        <p:spPr>
          <a:prstGeom prst="rect">
            <a:avLst/>
          </a:prstGeom>
        </p:spPr>
        <p:txBody>
          <a:bodyPr/>
          <a:lstStyle/>
          <a:p>
            <a:pPr/>
            <a:r>
              <a:t>DLSS </a:t>
            </a:r>
            <a:r>
              <a:t>от </a:t>
            </a:r>
            <a:r>
              <a:t>NVIDIA</a:t>
            </a:r>
          </a:p>
        </p:txBody>
      </p:sp>
      <p:sp>
        <p:nvSpPr>
          <p:cNvPr id="207" name="Объект 2"/>
          <p:cNvSpPr txBox="1"/>
          <p:nvPr>
            <p:ph type="body" idx="1"/>
          </p:nvPr>
        </p:nvSpPr>
        <p:spPr>
          <a:xfrm>
            <a:off x="1000541" y="3381376"/>
            <a:ext cx="22610099" cy="8702676"/>
          </a:xfrm>
          <a:prstGeom prst="rect">
            <a:avLst/>
          </a:prstGeom>
        </p:spPr>
        <p:txBody>
          <a:bodyPr/>
          <a:lstStyle/>
          <a:p>
            <a:pPr/>
            <a:r>
              <a:t>Современный подход — DLSS от NVIDIA. Нейросеть берет картинку в низком разрешении и дорисовывает детали.</a:t>
            </a:r>
          </a:p>
          <a:p>
            <a:pPr/>
            <a:r>
              <a:t>В 2018 году NVIDIA предложила иной способ обойти проблему с качеством изображения. Компания решила использовать нейросети, чтобы лучше объединять кадры низкого разрешения в одно качественное. К тому же в первой версии приоритет отдавался сглаживанию: сначала изображения в низком разрешении совмещались по принципу TAA, а затем картинку растягивали до нужных размеров и избавлялись от артефактов при помощи нейросети.</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Заголовок 1"/>
          <p:cNvSpPr txBox="1"/>
          <p:nvPr>
            <p:ph type="title"/>
          </p:nvPr>
        </p:nvSpPr>
        <p:spPr>
          <a:prstGeom prst="rect">
            <a:avLst/>
          </a:prstGeom>
        </p:spPr>
        <p:txBody>
          <a:bodyPr/>
          <a:lstStyle/>
          <a:p>
            <a:pPr/>
            <a:r>
              <a:t>DLSS </a:t>
            </a:r>
            <a:r>
              <a:t>от </a:t>
            </a:r>
            <a:r>
              <a:t>NVIDIA</a:t>
            </a:r>
          </a:p>
        </p:txBody>
      </p:sp>
      <p:pic>
        <p:nvPicPr>
          <p:cNvPr id="210" name="Изображение" descr="Изображение"/>
          <p:cNvPicPr>
            <a:picLocks noChangeAspect="1"/>
          </p:cNvPicPr>
          <p:nvPr/>
        </p:nvPicPr>
        <p:blipFill>
          <a:blip r:embed="rId2">
            <a:extLst/>
          </a:blip>
          <a:stretch>
            <a:fillRect/>
          </a:stretch>
        </p:blipFill>
        <p:spPr>
          <a:xfrm>
            <a:off x="3903777" y="3373155"/>
            <a:ext cx="17024565" cy="1019263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DLSS (Deep Learning Super Sampling) от NVIDIA"/>
          <p:cNvSpPr txBox="1"/>
          <p:nvPr>
            <p:ph type="title"/>
          </p:nvPr>
        </p:nvSpPr>
        <p:spPr>
          <a:prstGeom prst="rect">
            <a:avLst/>
          </a:prstGeom>
        </p:spPr>
        <p:txBody>
          <a:bodyPr/>
          <a:lstStyle/>
          <a:p>
            <a:pPr defTabSz="1755647">
              <a:defRPr sz="8448"/>
            </a:pPr>
            <a:r>
              <a:t>DLSS (Deep Learning Super Sampling) </a:t>
            </a:r>
            <a:r>
              <a:t>от </a:t>
            </a:r>
            <a:r>
              <a:t>NVIDIA</a:t>
            </a:r>
          </a:p>
        </p:txBody>
      </p:sp>
      <p:sp>
        <p:nvSpPr>
          <p:cNvPr id="213" name="В первой версии DLSS каждую нейросеть тренировали отдельно для каждой игры. На вход ей давали изображение в низком разрешении, а на выход — в очень высоком. Это распространённый метод обучения с помощником: нейросеть знает, какой должна получиться картин"/>
          <p:cNvSpPr txBox="1"/>
          <p:nvPr>
            <p:ph type="body" idx="1"/>
          </p:nvPr>
        </p:nvSpPr>
        <p:spPr>
          <a:prstGeom prst="rect">
            <a:avLst/>
          </a:prstGeom>
        </p:spPr>
        <p:txBody>
          <a:bodyPr/>
          <a:lstStyle/>
          <a:p>
            <a:pPr/>
            <a:r>
              <a:t>В первой версии DLSS каждую нейросеть тренировали отдельно для каждой игры. На вход ей давали изображение в низком разрешении, а на выход — в очень высоком. Это распространённый метод обучения с помощником: нейросеть знает, какой должна получиться картинка, и изменяет параметры нейронов скрытой сети, чтобы добиться схожего результата. Процесс обучения повторяют до тех пор, пока нейросеть не научится с первого раза достраивать изображение до приемлемого вида. Игрокам же оставалось скачать свежий драйвер, внутри которого есть и обученная нейросеть.</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DLSS 2.0"/>
          <p:cNvSpPr txBox="1"/>
          <p:nvPr>
            <p:ph type="title"/>
          </p:nvPr>
        </p:nvSpPr>
        <p:spPr>
          <a:prstGeom prst="rect">
            <a:avLst/>
          </a:prstGeom>
        </p:spPr>
        <p:txBody>
          <a:bodyPr/>
          <a:lstStyle/>
          <a:p>
            <a:pPr/>
            <a:r>
              <a:t>DLSS 2.0</a:t>
            </a:r>
          </a:p>
        </p:txBody>
      </p:sp>
      <p:sp>
        <p:nvSpPr>
          <p:cNvPr id="216" name="Вместо того чтобы по отдельности сглаживать и апскейлить каждый кадр игры, система сразу объединяет несколько предыдущих изображений, чтобы объединить их в одно качественное."/>
          <p:cNvSpPr txBox="1"/>
          <p:nvPr>
            <p:ph type="body" sz="quarter" idx="1"/>
          </p:nvPr>
        </p:nvSpPr>
        <p:spPr>
          <a:xfrm>
            <a:off x="1676400" y="3651250"/>
            <a:ext cx="6266486" cy="8702676"/>
          </a:xfrm>
          <a:prstGeom prst="rect">
            <a:avLst/>
          </a:prstGeom>
        </p:spPr>
        <p:txBody>
          <a:bodyPr/>
          <a:lstStyle>
            <a:lvl1pPr marL="384047" indent="-384047" defTabSz="1536191">
              <a:spcBef>
                <a:spcPts val="1600"/>
              </a:spcBef>
              <a:defRPr sz="4703"/>
            </a:lvl1pPr>
          </a:lstStyle>
          <a:p>
            <a:pPr/>
            <a:r>
              <a:t>Вместо того чтобы по отдельности сглаживать и апскейлить каждый кадр игры, система сразу объединяет несколько предыдущих изображений, чтобы объединить их в одно качественное.</a:t>
            </a:r>
          </a:p>
        </p:txBody>
      </p:sp>
      <p:pic>
        <p:nvPicPr>
          <p:cNvPr id="217" name="Изображение" descr="Изображение"/>
          <p:cNvPicPr>
            <a:picLocks noChangeAspect="1"/>
          </p:cNvPicPr>
          <p:nvPr/>
        </p:nvPicPr>
        <p:blipFill>
          <a:blip r:embed="rId2">
            <a:extLst/>
          </a:blip>
          <a:stretch>
            <a:fillRect/>
          </a:stretch>
        </p:blipFill>
        <p:spPr>
          <a:xfrm>
            <a:off x="8023974" y="728544"/>
            <a:ext cx="16345216" cy="1225891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400" rtl="0" fontAlgn="auto" latinLnBrk="0" hangingPunct="0">
          <a:lnSpc>
            <a:spcPct val="9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